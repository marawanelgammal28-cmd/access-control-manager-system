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IN CYBERSECURITY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Traversal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Detection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48640" y="2944368"/>
            <a:ext cx="237744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35808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Machine Learning Classification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029200" cy="1005840"/>
          </a:xfrm>
          <a:prstGeom prst="rect">
            <a:avLst/>
          </a:prstGeom>
          <a:solidFill>
            <a:srgbClr val="142255"/>
          </a:solidFill>
          <a:ln w="12700">
            <a:solidFill>
              <a:srgbClr val="142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79476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Name: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[Marawan Elgammal]  |  </a:t>
            </a:r>
            <a:r>
              <a:rPr lang="en-US" sz="1300" b="1" dirty="0">
                <a:solidFill>
                  <a:srgbClr val="14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ID: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[24100919]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1188720"/>
            <a:ext cx="1645920" cy="1920240"/>
          </a:xfrm>
          <a:prstGeom prst="roundRect">
            <a:avLst>
              <a:gd name="adj" fmla="val 8333"/>
            </a:avLst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554480"/>
            <a:ext cx="15544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🛡️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65760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traversal (CWE-22) lets attackers read sensitive files outside the web root using "../" sequences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Targets: /etc/passwd, /etc/shadow, config files, private keys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Listed in OWASP Top 10 — consistently exploited in real-world breaches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WAFs fail against obfuscated or encoded payloads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931920" cy="2926080"/>
          </a:xfrm>
          <a:prstGeom prst="rect">
            <a:avLst/>
          </a:prstGeom>
          <a:solidFill>
            <a:srgbClr val="EBF8F2"/>
          </a:solidFill>
          <a:ln w="12700">
            <a:solidFill>
              <a:srgbClr val="9DDC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9144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Machine Learning?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371600"/>
            <a:ext cx="365760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patterns from data — adapts to unseen attack variants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inference suitable for real-time web traffic inspection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feature extraction — no deep packet inspection needed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Complementary layer to existing WAF and firewall defenses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858768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950208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CWE-22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74320" y="459028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OWASP Category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3858768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3950208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423160" y="459028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Match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858768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950208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Features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0" y="459028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Engineered Signals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3858768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50208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720840" y="459028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Speed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8686800" cy="1207008"/>
          </a:xfrm>
          <a:prstGeom prst="rect">
            <a:avLst/>
          </a:prstGeom>
          <a:solidFill>
            <a:srgbClr val="E8F4F8"/>
          </a:solidFill>
          <a:ln w="12700">
            <a:solidFill>
              <a:srgbClr val="D0D8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04672"/>
            <a:ext cx="502920" cy="1207008"/>
          </a:xfrm>
          <a:prstGeom prst="rect">
            <a:avLst/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1170432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85953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Kruegel &amp; Vigna (2003)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2618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A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ACM CCS '03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896112"/>
            <a:ext cx="4846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Pioneered anomaly detection for web attacks using URL structural features. Established that path length, character distribution &amp; query structure are strong attack indicators.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157984"/>
            <a:ext cx="8686800" cy="1207008"/>
          </a:xfrm>
          <a:prstGeom prst="rect">
            <a:avLst/>
          </a:prstGeom>
          <a:solidFill>
            <a:srgbClr val="F0F8FF"/>
          </a:solidFill>
          <a:ln w="12700">
            <a:solidFill>
              <a:srgbClr val="D0D8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157984"/>
            <a:ext cx="502920" cy="1207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" y="2523744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21284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Buczak &amp; Guven (2016)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261518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A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IEEE Comm. Surveys &amp; Tutorials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249424"/>
            <a:ext cx="4846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Comprehensive survey of ML for intrusion detection. Key finding: Random Forest consistently outperforms single classifiers; ensemble methods are most robust.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3511296"/>
            <a:ext cx="8686800" cy="1207008"/>
          </a:xfrm>
          <a:prstGeom prst="rect">
            <a:avLst/>
          </a:prstGeom>
          <a:solidFill>
            <a:srgbClr val="E8F4F8"/>
          </a:solidFill>
          <a:ln w="12700">
            <a:solidFill>
              <a:srgbClr val="D0D8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511296"/>
            <a:ext cx="502920" cy="120700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3877056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[3]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56616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Liang et al. (2019)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396849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A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IEEE ITNEC '19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3602736"/>
            <a:ext cx="4846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CNN-based character-level detection of web vulnerabilities including path traversal. Achieves state-of-the-art but requires more compute than classical ML.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" y="4690872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Domain-informed feature engineering + ensemble ML = effective, deployable web attack detection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536192"/>
            <a:ext cx="320040" cy="91440"/>
          </a:xfrm>
          <a:prstGeom prst="rect">
            <a:avLst/>
          </a:prstGeom>
          <a:solidFill>
            <a:srgbClr val="9EAAB5"/>
          </a:solidFill>
          <a:ln w="12700">
            <a:solidFill>
              <a:srgbClr val="9EA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444752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AAB5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412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1481328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1280160" cy="173736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49424"/>
            <a:ext cx="1280160" cy="16824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1,000 synthetic paths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malicious / 500 benign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Balanced classes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1536192"/>
            <a:ext cx="320040" cy="91440"/>
          </a:xfrm>
          <a:prstGeom prst="rect">
            <a:avLst/>
          </a:prstGeom>
          <a:solidFill>
            <a:srgbClr val="9EAAB5"/>
          </a:solidFill>
          <a:ln w="12700">
            <a:solidFill>
              <a:srgbClr val="9EAA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444752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AAB5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65960" y="841248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8412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65960" y="1481328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57400" y="2212848"/>
            <a:ext cx="1280160" cy="173736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2249424"/>
            <a:ext cx="1280160" cy="16824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features extracted: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has_dotdot, num_slashes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length, has_sensitive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20640" y="1536192"/>
            <a:ext cx="320040" cy="91440"/>
          </a:xfrm>
          <a:prstGeom prst="rect">
            <a:avLst/>
          </a:prstGeom>
          <a:solidFill>
            <a:srgbClr val="9EAAB5"/>
          </a:solidFill>
          <a:ln w="12700">
            <a:solidFill>
              <a:srgbClr val="9EAA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444752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AAB5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03320" y="841248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8412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703320" y="1481328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94760" y="2212848"/>
            <a:ext cx="1280160" cy="173736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2249424"/>
            <a:ext cx="1280160" cy="16824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80/20 train-test split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0" y="1536192"/>
            <a:ext cx="320040" cy="91440"/>
          </a:xfrm>
          <a:prstGeom prst="rect">
            <a:avLst/>
          </a:prstGeom>
          <a:solidFill>
            <a:srgbClr val="9EAAB5"/>
          </a:solidFill>
          <a:ln w="12700">
            <a:solidFill>
              <a:srgbClr val="9EAA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1444752"/>
            <a:ext cx="228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AAB5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40680" y="841248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8412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440680" y="1481328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Analysis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32120" y="2212848"/>
            <a:ext cx="1280160" cy="173736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2249424"/>
            <a:ext cx="1280160" cy="16824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Accuracy, Precision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Recall, F1, AUC-ROC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178040" y="841248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8412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178040" y="1481328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2212848"/>
            <a:ext cx="1280160" cy="173736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2249424"/>
            <a:ext cx="1280160" cy="16824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web app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prediction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joblib model export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28600" y="4160520"/>
            <a:ext cx="8686800" cy="685800"/>
          </a:xfrm>
          <a:prstGeom prst="rect">
            <a:avLst/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224528"/>
            <a:ext cx="8503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&amp; Libraries:  Python 3  |  scikit-learn  |  pandas  |  NumPy  |  Matplotlib  |  Seaborn  |  Streamlit  |  joblib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Details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Engineered Features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371600" cy="438912"/>
          </a:xfrm>
          <a:prstGeom prst="rect">
            <a:avLst/>
          </a:prstGeom>
          <a:solidFill>
            <a:srgbClr val="0F214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9304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1234440"/>
            <a:ext cx="914400" cy="438912"/>
          </a:xfrm>
          <a:prstGeom prst="rect">
            <a:avLst/>
          </a:prstGeom>
          <a:solidFill>
            <a:srgbClr val="0F214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289304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1645920" cy="438912"/>
          </a:xfrm>
          <a:prstGeom prst="rect">
            <a:avLst/>
          </a:prstGeom>
          <a:solidFill>
            <a:srgbClr val="0F214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289304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09928"/>
            <a:ext cx="1371600" cy="438912"/>
          </a:xfrm>
          <a:prstGeom prst="rect">
            <a:avLst/>
          </a:prstGeom>
          <a:solidFill>
            <a:srgbClr val="E8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6479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has_dotdot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45920" y="1709928"/>
            <a:ext cx="914400" cy="438912"/>
          </a:xfrm>
          <a:prstGeom prst="rect">
            <a:avLst/>
          </a:prstGeom>
          <a:solidFill>
            <a:srgbClr val="E8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176479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0" y="1709928"/>
            <a:ext cx="1645920" cy="438912"/>
          </a:xfrm>
          <a:prstGeom prst="rect">
            <a:avLst/>
          </a:prstGeom>
          <a:solidFill>
            <a:srgbClr val="E8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764792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../ traversal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185416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4028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num_slashes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645920" y="2185416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224028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0" y="2185416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2402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depth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2660904"/>
            <a:ext cx="1371600" cy="438912"/>
          </a:xfrm>
          <a:prstGeom prst="rect">
            <a:avLst/>
          </a:prstGeom>
          <a:solidFill>
            <a:srgbClr val="E8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1576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length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645920" y="2660904"/>
            <a:ext cx="914400" cy="438912"/>
          </a:xfrm>
          <a:prstGeom prst="rect">
            <a:avLst/>
          </a:prstGeom>
          <a:solidFill>
            <a:srgbClr val="E8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271576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60320" y="2660904"/>
            <a:ext cx="1645920" cy="438912"/>
          </a:xfrm>
          <a:prstGeom prst="rect">
            <a:avLst/>
          </a:prstGeom>
          <a:solidFill>
            <a:srgbClr val="E8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271576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 length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136392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191256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has_sensitive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645920" y="3136392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91640" y="3191256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560320" y="3136392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3191256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etc/passwd/shadow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63440" y="80467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Configuration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663440" y="1207008"/>
            <a:ext cx="425196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243584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63440" y="1664208"/>
            <a:ext cx="4251960" cy="301752"/>
          </a:xfrm>
          <a:prstGeom prst="rect">
            <a:avLst/>
          </a:prstGeom>
          <a:solidFill>
            <a:srgbClr val="E8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1700784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n_estimators = 100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1993392"/>
            <a:ext cx="4251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02996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criterion = Gini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663440" y="2322576"/>
            <a:ext cx="4251960" cy="301752"/>
          </a:xfrm>
          <a:prstGeom prst="rect">
            <a:avLst/>
          </a:prstGeom>
          <a:solidFill>
            <a:srgbClr val="E8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359152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Bootstrap = True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663440" y="2651760"/>
            <a:ext cx="4251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688336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random_state = 42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663440" y="3081528"/>
            <a:ext cx="4251960" cy="384048"/>
          </a:xfrm>
          <a:prstGeom prst="rect">
            <a:avLst/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118104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663440" y="3538728"/>
            <a:ext cx="4251960" cy="301752"/>
          </a:xfrm>
          <a:prstGeom prst="rect">
            <a:avLst/>
          </a:prstGeom>
          <a:solidFill>
            <a:srgbClr val="E8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3575304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solver = L-BFGS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663440" y="3867912"/>
            <a:ext cx="4251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90448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 = 1.0 (L2 reg)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663440" y="4197096"/>
            <a:ext cx="4251960" cy="301752"/>
          </a:xfrm>
          <a:prstGeom prst="rect">
            <a:avLst/>
          </a:prstGeom>
          <a:solidFill>
            <a:srgbClr val="E8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4233672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max_iter = 100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663440" y="4526280"/>
            <a:ext cx="4251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4562856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random_state = 42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Train/Test Split: 80% Training (800 samples)  |  20% Testing (200 samples)  |  Stratified, random_state=42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0" y="4617720"/>
            <a:ext cx="91440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645152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Train/Test Split: 80% Training (800 samples)  |  20% Testing (200 samples)  |  Stratified, random_state=42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9611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28600" y="153619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(Both Models)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804672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89611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41448" y="153619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(Macro Avg)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54296" y="804672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89611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54296" y="153619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(Macro Avg)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67144" y="804672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67144" y="89611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67144" y="153619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AUC-ROC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(Random Forest)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" y="2176272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</a:t>
            </a:r>
            <a:endParaRPr lang="en-US" sz="14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542032"/>
            <a:ext cx="3931920" cy="2286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663440" y="2176272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 Curve (AUC = 1.00)</a:t>
            </a:r>
            <a:endParaRPr lang="en-US" sz="1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542032"/>
            <a:ext cx="425196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Visualizations &amp; Streamlit Demo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vs Test Accuracy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216152"/>
            <a:ext cx="420624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804672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Report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16152"/>
            <a:ext cx="4206240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3593592"/>
            <a:ext cx="868680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367588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 Streamlit Web Application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65760" y="4078224"/>
            <a:ext cx="8321040" cy="804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enters a URL or file path → app extracts features in real-time → Random Forest model predicts attack or safe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feedback: ⚠️ Red warning for attacks | ✅ Green success for safe inputs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Deployed locally via: python -m streamlit run app.py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49"/>
          </a:solidFill>
          <a:ln w="12700">
            <a:solidFill>
              <a:srgbClr val="0F2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Faced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594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4251960" cy="1920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22960"/>
            <a:ext cx="4251960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77824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Synthetic Data Limitations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397764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dataset was generated from a fixed set of known patterns. Real-world attacks include encoded variants (%2e%2e%2f), double-encoding, and novel obfuscation, which may not match the learned features.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51960" cy="1920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822960"/>
            <a:ext cx="425196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77824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🔧  Feature Scope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353312"/>
            <a:ext cx="397764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four engineered features provide excellent coverage for known patterns but may not generalize to adversarial inputs. Extending to character n-grams or embedding-based representations is a recognized future need.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880360"/>
            <a:ext cx="4251960" cy="1920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880360"/>
            <a:ext cx="4251960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35224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⚖️  Class Distribution in Production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410712"/>
            <a:ext cx="397764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balanced 50/50 class split does not reflect real web traffic where benign requests vastly outnumber attacks. Imbalanced learning techniques (SMOTE, cost-sensitive learning) are needed for production deployment.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251960" cy="1920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880360"/>
            <a:ext cx="425196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935224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 Generalization &amp; External Validation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410712"/>
            <a:ext cx="397764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Perfect scores on synthetic test data do not guarantee real-world performance. External validation on public datasets (CSIC HTTP, CICIDS 2017) is required before production use.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735"/>
          </a:solidFill>
          <a:ln w="12700">
            <a:solidFill>
              <a:srgbClr val="0A17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4251960" cy="4069080"/>
          </a:xfrm>
          <a:prstGeom prst="rect">
            <a:avLst/>
          </a:prstGeom>
          <a:solidFill>
            <a:srgbClr val="142255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Conclusions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977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ML successfully detects path traversal attacks from 4 simple string features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977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Random Forest &amp; Logistic Regression both achieve 100% accuracy on synthetic test set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3977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AUC-ROC of 1.00 confirms perfect class separation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3236976"/>
            <a:ext cx="3977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Streamlit app demonstrates real-time deployment feasibility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3895344"/>
            <a:ext cx="3977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Feature engineering outweighs model complexity for this structured problem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713232"/>
            <a:ext cx="4160520" cy="4069080"/>
          </a:xfrm>
          <a:prstGeom prst="rect">
            <a:avLst/>
          </a:prstGeom>
          <a:solidFill>
            <a:srgbClr val="0C2A20"/>
          </a:solidFill>
          <a:ln w="12700">
            <a:solidFill>
              <a:srgbClr val="1A5C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04672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Future 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261872"/>
            <a:ext cx="38862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Validate on real-world labeled HTTP traffic (CSIC, CICIDS 2017)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8862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Add URL-encoded &amp; obfuscated attack variant samples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92040" y="2578608"/>
            <a:ext cx="38862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Explore CNN / Transformer character-level detection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92040" y="3236976"/>
            <a:ext cx="38862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Incorporate HTTP context: method, headers, status codes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92040" y="3895344"/>
            <a:ext cx="38862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Production deployment with middleware integration &amp; batch logging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4850</Words>
  <Application>WPS Presentation</Application>
  <PresentationFormat>On-screen Show (16:9)</PresentationFormat>
  <Paragraphs>270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 Traversal Attack Detection</dc:title>
  <dc:creator>Student</dc:creator>
  <dc:subject>PptxGenJS Presentation</dc:subject>
  <cp:lastModifiedBy>Marawan</cp:lastModifiedBy>
  <cp:revision>3</cp:revision>
  <dcterms:created xsi:type="dcterms:W3CDTF">2026-05-04T08:48:00Z</dcterms:created>
  <dcterms:modified xsi:type="dcterms:W3CDTF">2026-05-05T15:47:03Z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4A46A6E5F81F4D1BBC684E687A15DBB7_12</vt:lpwstr>
  </property>
</Properties>
</file>